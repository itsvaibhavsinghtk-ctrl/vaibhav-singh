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36576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36576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MRI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CB"/>
                </a:solidFill>
              </a:rPr>
              <a:t>A Comprehensive Guide for Clinical Radiology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Understanding T1, T2, FLAIR, DWI, GRE, STIR &amp;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2CB"/>
                </a:solidFill>
              </a:rPr>
              <a:t>Radiology / Medical Imaging Lecture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MRI Physics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How MRI signal is generated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91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T1-Weighted Imaging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Short TR, Short TE — anatomy &amp; post-contrast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0292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T2-Weighted Imaging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120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Long TR, Long TE — pathology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1887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118872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15544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FLAIR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Fluid Attenuated Inversion Recovery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92608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292608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291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DWI &amp; ADC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474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Diffusion Weighted Imaging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66344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466344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50292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754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GRE / T2* Sequences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2120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Gradient Echo &amp; susceptibility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11887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118872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15544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STIR Sequence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Short Tau Inversion Recovery — fat suppression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292608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292608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3291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Special Sequences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3474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MRA, MRS, Perfusion, fMRI &amp; more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66344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46720" y="4663440"/>
            <a:ext cx="502920" cy="146304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50292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4754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Clinical Applications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52120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Choosing the right sequence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MRI PHYSICS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4864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How MRI Signal is Generated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Hydrogen protons (¹H) align with external magnetic field (B₀)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Radiofrequency (RF) pulse tips protons out of alignment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Protons precess at Larmor frequency: ω = γ × B₀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Signal detected as protons relax back to equilibrium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Two relaxation processes: T1 (longitudinal) &amp; T2 (transverse)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9436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3533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Key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737360"/>
            <a:ext cx="5760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TR (Repetition Time) — time between RF pulses (ms)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TE (Echo Time) — time between RF pulse and signal reading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TI (Inversion Time) — used in inversion recovery sequences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Flip Angle — degree of magnetization tipping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Field Strength: 1.5T (standard) vs 3T (high-res)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663440"/>
            <a:ext cx="11612880" cy="1645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F9E"/>
                </a:solidFill>
              </a:rPr>
              <a:t>⚡ Key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T1 relaxation = longitudinal recovery (spin-lattice). T2 relaxation = transverse decay (spin-spin). Sequence contrast depends on TR and TE choices relative to tissue T1/T2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T1-WEIGHTED IMAGING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25603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Short TR: 400–600 ms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Short TE: 10–30 ms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Emphasizes T1 differences between tissues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3931920" cy="25603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53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</a:rPr>
              <a:t>Tissue Appearance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37360"/>
            <a:ext cx="374903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FAT → Bright (high signal) 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FLUID (CSF, urine) → Dark (low signal)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MUSCLE → Intermediate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CORTICAL BONE → Dark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GREY MATTER → Slightly darker than white matter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WHITE MATTER → Brighter than grey matter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657600" cy="25603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</a:rPr>
              <a:t>Clinical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34747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Anatomy — excellent soft tissue detail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Post-gadolinium contrast enhancement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Fat detection (lipoma, dermoid)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Hemorrhage (subacute — methemoglobin bright)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Liver lesions characterization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Pituitary gland imaging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Bone marrow 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11612880" cy="2468880"/>
          </a:xfrm>
          <a:prstGeom prst="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🔶 T1 BRIGHT (Short T1)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Fat  |  Subacute blood (Met-Hb)  |  Gadolinium contrast  |  Proteinaceous fluid  |  Melanin  |  Calcium (sometimes)  |  Lipid-containing lesions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F9E"/>
                </a:solidFill>
              </a:rPr>
              <a:t>🔷 T1 DARK (Long T1)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Free fluid (CSF, edema, cysts)  |  Acute blood  |  Air  |  Cortical bone  |  Most pathology (tumors, infarcts)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T2-WEIGHTED IMAGING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2743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F9E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Long TR: 2000–4000 ms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Long TE: 80–120 ms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Emphasizes T2 differences — fluid appears bright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Called the 'pathology sequence'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931920" cy="2743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53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F9E"/>
                </a:solidFill>
              </a:rPr>
              <a:t>Tissue Appearance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73736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FLUID (CSF, edema) → Bright ✨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FAT → Intermediate-bright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MUSCLE → Dark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CORTICAL BONE → Dark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GREY MATTER → Brighter than white matter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WHITE MATTER → Darker than grey matter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PATHOLOGY → Mostly bright (edema, tumors)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80160"/>
            <a:ext cx="3657600" cy="2743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F9E"/>
                </a:solidFill>
              </a:rPr>
              <a:t>Clinical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Edema detection (brain, spine, joints)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Joint fluid &amp; cartilage evaluation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Spinal cord pathology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Liver &amp; kidney lesions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Pelvic organs (uterus, prostate)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Breast MRI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Inflammation &amp; infection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CSF flow studies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11612880" cy="237744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T1 vs T2 — Quick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F9E"/>
                </a:solidFill>
              </a:rPr>
              <a:t>Tissue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F9E"/>
                </a:solidFill>
              </a:rPr>
              <a:t>T1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F9E"/>
                </a:solidFill>
              </a:rPr>
              <a:t>T2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29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85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Free Fluid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85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0000"/>
                </a:solidFill>
              </a:rPr>
              <a:t>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85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541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Muscle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541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Intermediate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541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0000"/>
                </a:solidFill>
              </a:rPr>
              <a:t>Dark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797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Air/Bone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797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0000"/>
                </a:solidFill>
              </a:rPr>
              <a:t>Dark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797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0000"/>
                </a:solidFill>
              </a:rPr>
              <a:t>Dark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053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Edema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053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0000"/>
                </a:solidFill>
              </a:rPr>
              <a:t>Dark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053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309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Subacute Blood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6309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309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Bright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A0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B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04  FLAIR — Fluid Attenuated Inversion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92608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008C"/>
                </a:solidFill>
              </a:rPr>
              <a:t>How FLAIR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Inversion Recovery sequence with long TI (~2000 ms at 1.5T)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TI chosen to null free water/CSF signal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CSF appears BLACK (suppressed)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Periventricular &amp; cortical lesions become visible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Lesions near CSF spaces that are hidden on T2 become conspicuous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760720" cy="292608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53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008C"/>
                </a:solidFill>
              </a:rPr>
              <a:t>Key Clinical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Multiple Sclerosis (MS) plaques — periventricular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Subarachnoid hemorrhage (SAH) — blood bright in CSF spaces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Cortical contusions &amp; traumatic brain injury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Encephalitis (herpes, autoimmune)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Leptomeningeal disease / carcinomatosis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Early ischemic stroke changes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Cortical dysplasia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89120"/>
            <a:ext cx="11612880" cy="2194560"/>
          </a:xfrm>
          <a:prstGeom prst="rect">
            <a:avLst/>
          </a:prstGeom>
          <a:solidFill>
            <a:srgbClr val="F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008C"/>
                </a:solidFill>
              </a:rPr>
              <a:t>⚡ FLAIR vs T2 — When to use which?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T2: Best overall pathology detection — fluid AND lesions both bright
FLAIR: Best for PERIVENTRICULAR and CORTICAL lesions — nulls CSF so adjacent lesions stand out
Rule: Always review T2 and FLAIR together for brain pathology (especially MS, SAH, encephalitis)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DWI &amp; ADC — Diffusion Weighted Imaging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926080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B3C"/>
                </a:solidFill>
              </a:rPr>
              <a:t>Principle of DWI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Measures Brownian motion of water molecules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Applies gradient pulses to sensitize motion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b-value controls diffusion weighting (b=0, 500, 1000 s/mm²)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RESTRICTED diffusion → Bright on DWI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FREE diffusion → Dark on DWI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T2 shine-through can mimic restriction — always check ADC!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760720" cy="2926080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53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B3C"/>
                </a:solidFill>
              </a:rPr>
              <a:t>ADC Map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ADC = Apparent Diffusion Coefficient map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Mathematically derived from DWI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TRUE restriction: DWI bright + ADC dark (low ADC)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T2 shine-through: DWI bright + ADC bright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Low ADC value &lt; 0.8 × 10⁻³ mm²/s = significant restriction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High ADC = free diffusion / vasogenic edema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89120"/>
            <a:ext cx="11612880" cy="2194560"/>
          </a:xfrm>
          <a:prstGeom prst="rect">
            <a:avLst/>
          </a:prstGeom>
          <a:solidFill>
            <a:srgbClr val="E0F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B3C"/>
                </a:solidFill>
              </a:rPr>
              <a:t>🏥 Clinical Applications of DWI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Acute ischemic stroke (cytotoxic edema — bright within minutes)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Abscess (restricted pus — bright center, helps vs necrotic tumor)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Epidermoid cyst vs arachnoid cyst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Diffuse axonal injury (DAI)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46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Creutzfeldt-Jakob disease (CJD) — cortical ribboning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0749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Lymphoma (hypercellular — restricted)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03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Cholesteatoma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32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• Prostate &amp; rectal cancer staging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GRE / T2* — Gradient Echo &amp; Susceptibility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292608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00"/>
                </a:solidFill>
              </a:rPr>
              <a:t>GRE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5661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Uses gradient reversal instead of 180° RF refocusing pulse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Does NOT cancel field inhomogeneity effects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Susceptible to T2* (T2-star) decay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Much faster than spin echo sequences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Flip angle &lt; 90° (typically 15–60°)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Small flip angle → more T2* weighting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4023360" cy="292608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533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00"/>
                </a:solidFill>
              </a:rPr>
              <a:t>Susceptibility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3736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Paramagnetic substances cause local field distortion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Blood products (deoxyhemoglobin, hemosiderin) → DARK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Air-tissue interfaces → signal loss / blooming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Metal implants → severe distortion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'Blooming artifact' — lesions appear larger than actual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SWI (Susceptibility Weighted Imaging) = enhanced T2*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80160"/>
            <a:ext cx="3657600" cy="2926080"/>
          </a:xfrm>
          <a:prstGeom prst="rect">
            <a:avLst/>
          </a:prstGeom>
          <a:solidFill>
            <a:srgbClr val="FF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53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00"/>
                </a:solidFill>
              </a:rPr>
              <a:t>Clinical 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Microbleeds (hypertensive, CAA, DAI)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Cavernous malformations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Hemorrhagic transformation of infarct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Iron deposition (basal ganglia disorders)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Calcifications (T2* dark)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Venous thrombosis (SWI)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Tumor blood products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Functional MRI (fMRI) — BOLD technique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434840"/>
            <a:ext cx="11612880" cy="210312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00"/>
                </a:solidFill>
              </a:rPr>
              <a:t>Hemorrhage on MRI — Signal Evolution Over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00"/>
                </a:solidFill>
              </a:rPr>
              <a:t>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00"/>
                </a:solidFill>
              </a:rP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00"/>
                </a:solidFill>
              </a:rPr>
              <a:t>T1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00"/>
                </a:solidFill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892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00"/>
                </a:solidFill>
              </a:rPr>
              <a:t>GRE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Hyperacute
(&lt;24h)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Oxy-Hb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Bright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Iso/Dark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Acute
(1–3d)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Deoxy-Hb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Early Subacute
(3–7d)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Met-Hb (intra)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Bright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89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Late Subacute
(1–2wk)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989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Met-Hb (extra)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989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Bright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989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Bright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989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263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Chronic
(&gt;2wk)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6263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Hemosiderin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6263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263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6263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Very Dark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 STIR — Short Tau Inversion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2926080"/>
          </a:xfrm>
          <a:prstGeom prst="rect">
            <a:avLst/>
          </a:prstGeom>
          <a:solidFill>
            <a:srgbClr val="E0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6B"/>
                </a:solidFill>
              </a:rPr>
              <a:t>How STIR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Inversion Recovery sequence with SHORT TI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TI chosen to null FAT signal (~150ms at 1.5T, ~210ms at 3T)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Fat appears BLACK (suppressed)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Fluid/edema remains BRIGHT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Additive effect: T1 + T2 weighting → very sensitive to water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Works at any field strength (unlike spectral fat sat)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760720" cy="2926080"/>
          </a:xfrm>
          <a:prstGeom prst="rect">
            <a:avLst/>
          </a:prstGeom>
          <a:solidFill>
            <a:srgbClr val="E0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533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6B"/>
                </a:solidFill>
              </a:rPr>
              <a:t>Clinical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Bone marrow edema (fractures, osteomyelitis, metastases)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Soft tissue edema &amp; inflammation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Muscle injuries &amp; tears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Brachial plexus imaging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Spinal cord &amp; nerve root pathology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Lymph node evaluation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Body MRI where spectral fat sat unreliable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Pediatric imaging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89120"/>
            <a:ext cx="11612880" cy="2194560"/>
          </a:xfrm>
          <a:prstGeom prst="rect">
            <a:avLst/>
          </a:prstGeom>
          <a:solidFill>
            <a:srgbClr val="D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C6B"/>
                </a:solidFill>
              </a:rPr>
              <a:t>STIR vs Spectral Fat Saturation (Fat Sat) — Key Differences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C6B"/>
                </a:solidFill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46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C6B"/>
                </a:solidFill>
              </a:rPr>
              <a:t>STIR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846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5C6B"/>
                </a:solidFill>
              </a:rPr>
              <a:t>Spectral Fat Sat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02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102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Inversion Recovery (TI)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102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Chemical shift saturation pulse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5838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Field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5838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Works at all field strengths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58383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Best at high field (1.5T, 3T)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144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Uniformity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6144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Uniform fat suppression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6144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Inhomogeneous at air-tissue interfaces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8704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SNR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8704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Lower SNR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8704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Higher SNR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Contrast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126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Cannot be used (nulls Gd)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6126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Safe with contrast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77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SPECIAL 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2926080"/>
          </a:xfrm>
          <a:prstGeom prst="rect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MRA
MR Angiography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TOF (Time of Flight) — flow-related enhancement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Phase Contrast — velocity encoding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CE-MRA — contrast enhanced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Evaluates arteries &amp; veins non-invasively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743200" cy="2926080"/>
          </a:xfrm>
          <a:prstGeom prst="rect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MRS
MR Spectroscopy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Measures brain metabolite peaks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NAA (neurons), Cho (membranes),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Cr (reference), Lac (anaerobic), Lip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Tumor vs radiation necrosis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743200" cy="2926080"/>
          </a:xfrm>
          <a:prstGeom prst="rect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Perfusion MRI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DSC (Dynamic Susceptibility Contrast)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ASL (Arterial Spin Labeling) — no contrast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Maps CBF, CBV, MTT, TTP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Stroke, tumor grading, seizures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280160"/>
            <a:ext cx="2834640" cy="2926080"/>
          </a:xfrm>
          <a:prstGeom prst="rect">
            <a:avLst/>
          </a:prstGeom>
          <a:solidFill>
            <a:srgbClr val="EA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fMRI
Functional MRI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3736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BOLD technique (Blood Oxygen Level Dependent)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Maps brain activation patterns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Pre-surgical planning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Eloquent cortex mapping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2743200" cy="21945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62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MRCP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46320"/>
            <a:ext cx="2560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MR Cholangiopancreatography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Heavy T2 — fluid bright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Bile ducts, pancreatic duct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No contrast, no radiation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389120"/>
            <a:ext cx="2743200" cy="21945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462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DTI
Diffusion Tensor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46320"/>
            <a:ext cx="2560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Tracks white matter tracts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Fractional Anisotropy (FA) maps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Pre-surgical tractography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TBI assessment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389120"/>
            <a:ext cx="2743200" cy="21945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462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Dixon / Fat-Water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256032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Separates fat &amp; water images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In-phase / Out-of-phase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PDFF (fat quantification)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Liver steatosis grading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4389120"/>
            <a:ext cx="2834640" cy="21945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462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5E"/>
                </a:solidFill>
              </a:rPr>
              <a:t>Cine MRI / EPI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846320"/>
            <a:ext cx="26517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Cardiac gated sequences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Real-time cardiac function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EPI — fast single-shot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A1A2E"/>
                </a:solidFill>
              </a:rPr>
              <a:t>• fMRI &amp; perfusion 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09  CLINICAL APPLICATIONS — Choosing the Right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657600" cy="4114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Acute Stroke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DWI + ADC (first line)
FLAIR (after 6h)
MRA for vessel occlusion
T2* / SWI for hemorrhage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280160"/>
            <a:ext cx="365760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280160"/>
            <a:ext cx="3657600" cy="4114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Brain Tumor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1755648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T1 + T1 post-Gad (enhancement)
T2 / FLAIR (extent, edema)
DWI (cellularity)
MRS (metabolites)
Perfusion (grading)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65760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657600" cy="4114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Multiple Sclerosis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55648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FLAIR (periventricular plaques)
T2 (overall lesion load)
T1 (black holes = axonal loss)
Spinal T2 (cord lesions)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79"/>
            <a:ext cx="365760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40479"/>
            <a:ext cx="3657600" cy="4114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8619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Spine Pathology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15967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T1 (anatomy, bone marrow)
T2 (disc, cord, fluid)
STIR (edema, metastases)
DWI (cord, vertebral lesion)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840479"/>
            <a:ext cx="365760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840479"/>
            <a:ext cx="3657600" cy="4114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88619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Knee / Joint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4315967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PD Fat Sat / T2 Fat Sat (menisci, cartilage)
T1 (anatomy)
GRE (cartilage volume)
STIR (bone bruise, edema)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840479"/>
            <a:ext cx="3657600" cy="2377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840479"/>
            <a:ext cx="3657600" cy="41148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88619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Liver Lesion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315967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T1 in/out phase (fat, iron)
T2 (cyst, hemangioma)
DWI (malignancy)
T1 dynamic post-Gad
Dixon fat quantification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QUICK REFERENCE — MRI Sequences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60120"/>
            <a:ext cx="11795760" cy="5303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051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0515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39" y="10515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05156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Fat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051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Fluid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0515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2CB"/>
                </a:solidFill>
              </a:rPr>
              <a:t>Key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527048"/>
            <a:ext cx="11795760" cy="530352"/>
          </a:xfrm>
          <a:prstGeom prst="rect">
            <a:avLst/>
          </a:prstGeom>
          <a:solidFill>
            <a:srgbClr val="13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6184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61848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161848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61848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61848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Dark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184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Anatomy, Post-Gad, Fat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093976"/>
            <a:ext cx="11795760" cy="530352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21854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1854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18541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18541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18541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1854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Pathology, Edema, Fluid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660904"/>
            <a:ext cx="11795760" cy="530352"/>
          </a:xfrm>
          <a:prstGeom prst="rect">
            <a:avLst/>
          </a:prstGeom>
          <a:solidFill>
            <a:srgbClr val="13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75234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FLAIR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752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39" y="2752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275234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7523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Dark (nulled)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75234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Periventricular lesions, SAH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227832"/>
            <a:ext cx="11795760" cy="530352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33192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DWI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3192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39" y="331927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31927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3192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3192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Acute stroke, Abscess, Tumor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794760"/>
            <a:ext cx="11795760" cy="530352"/>
          </a:xfrm>
          <a:prstGeom prst="rect">
            <a:avLst/>
          </a:prstGeom>
          <a:solidFill>
            <a:srgbClr val="13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3886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GRE/T2*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3886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39" y="3886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0520" y="388620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88620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Dark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8862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Hemorrhage, Iron, Calcification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361688"/>
            <a:ext cx="11795760" cy="530352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" y="4453127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STIR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445312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3239" y="445312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60520" y="4453127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</a:rPr>
              <a:t>Dark (nulled)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4453127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Bright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4453127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Bone marrow edema, Soft tissue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928616"/>
            <a:ext cx="11795760" cy="530352"/>
          </a:xfrm>
          <a:prstGeom prst="rect">
            <a:avLst/>
          </a:prstGeom>
          <a:solidFill>
            <a:srgbClr val="13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5020055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SWI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5020055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3239" y="5020055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5020055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502005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502005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Microbleeds, Veins, Calcium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5495544"/>
            <a:ext cx="11795760" cy="530352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586983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MRCP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5960" y="5586983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Very Long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39" y="5586983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Very Long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60520" y="5586983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888"/>
                </a:solidFill>
              </a:rPr>
              <a:t>Dark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558698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Very Bright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29400" y="558698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Bile/Pancreatic ducts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6062472"/>
            <a:ext cx="11795760" cy="530352"/>
          </a:xfrm>
          <a:prstGeom prst="rect">
            <a:avLst/>
          </a:prstGeom>
          <a:solidFill>
            <a:srgbClr val="13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61539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65960" y="61539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63239" y="61539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60520" y="6153912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615391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29400" y="61539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Tumor metabolites, Necrosis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